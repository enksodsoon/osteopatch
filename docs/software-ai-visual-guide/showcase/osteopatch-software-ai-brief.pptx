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5B63"/>
                </a:solidFill>
                <a:latin typeface="Arial"/>
              </a:defRPr>
            </a:pPr>
            <a:r>
              <a:rPr sz="3600" b="1">
                <a:solidFill>
                  <a:srgbClr val="225B63"/>
                </a:solidFill>
                <a:latin typeface="Arial"/>
                <a:ea typeface="Yu Gothic"/>
              </a:rPr>
              <a:t>OsteoPatch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454545"/>
                </a:solidFill>
                <a:latin typeface="Arial"/>
              </a:defRPr>
            </a:pPr>
            <a:r>
              <a:rPr sz="2500">
                <a:solidFill>
                  <a:srgbClr val="454545"/>
                </a:solidFill>
                <a:latin typeface="Arial"/>
                <a:ea typeface="Yu Gothic"/>
              </a:rPr>
              <a:t>Software and AI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5B63"/>
                </a:solidFill>
                <a:latin typeface="Arial"/>
              </a:defRPr>
            </a:pPr>
            <a:r>
              <a:rPr sz="1800" b="1">
                <a:solidFill>
                  <a:srgbClr val="225B63"/>
                </a:solidFill>
                <a:latin typeface="Arial"/>
                <a:ea typeface="Yu Gothic"/>
              </a:rPr>
              <a:t>Architecture • API workflow • research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54545"/>
                </a:solidFill>
                <a:latin typeface="Arial"/>
              </a:defRPr>
            </a:pPr>
            <a:r>
              <a:rPr sz="1500">
                <a:solidFill>
                  <a:srgbClr val="454545"/>
                </a:solidFill>
                <a:latin typeface="Arial"/>
                <a:ea typeface="Yu Gothic"/>
              </a:rPr>
              <a:t>Developer and stakeholder briefing |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A4E3A"/>
                </a:solidFill>
                <a:latin typeface="Arial"/>
              </a:defRPr>
            </a:pPr>
            <a:r>
              <a:rPr sz="1400" b="1">
                <a:solidFill>
                  <a:srgbClr val="9A4E3A"/>
                </a:solidFill>
                <a:latin typeface="Arial"/>
                <a:ea typeface="Yu Gothic"/>
              </a:rPr>
              <a:t>Educational and research software. Not for diagnosis or treatment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333333"/>
                </a:solidFill>
                <a:latin typeface="Arial"/>
              </a:defRPr>
            </a:pPr>
            <a:r>
              <a:rPr sz="2200" b="1">
                <a:solidFill>
                  <a:srgbClr val="333333"/>
                </a:solidFill>
                <a:latin typeface="Arial"/>
              </a:rPr>
              <a:t>Runtime boundaries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258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212"/>
                <a:gridCol w="3785616"/>
                <a:gridCol w="3890772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Boundary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lives there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and responsibility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Local app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React + TypeScript + Vite; FastAPI under /v1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Review UI, predictions, API access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Persistence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SQLite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Application and review records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Enterprise extension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G7 frontend/backend additions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Optional enterprise workflows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Static documentation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Offline HTML guide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Documentation only; no runtime API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Historical deployment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AWS workshop record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Historical context; not the current local boundary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rPr sz="1200">
                <a:solidFill>
                  <a:srgbClr val="666666"/>
                </a:solidFill>
                <a:latin typeface="Arial"/>
                <a:ea typeface="Yu Gothic"/>
              </a:rPr>
              <a:t>Keep runtime, documentation hosting, and historical deployment diagrams distinct.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333333"/>
                </a:solidFill>
                <a:latin typeface="Arial"/>
              </a:defRPr>
            </a:pPr>
            <a:r>
              <a:rPr sz="2200" b="1">
                <a:solidFill>
                  <a:srgbClr val="333333"/>
                </a:solidFill>
                <a:latin typeface="Arial"/>
              </a:rPr>
              <a:t>Prediction and review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defRPr sz="1200">
                <a:solidFill>
                  <a:srgbClr val="333333"/>
                </a:solidFill>
                <a:latin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</a:rPr>
              <a:t>•  1  Browser requests a prediction through FastAPI /v1.</a:t>
            </a:r>
          </a:p>
          <a:p>
            <a:pPr>
              <a:lnSpc>
                <a:spcPts val="3600"/>
              </a:lnSpc>
              <a:defRPr sz="1200">
                <a:solidFill>
                  <a:srgbClr val="333333"/>
                </a:solidFill>
                <a:latin typeface="Arial"/>
              </a:defRPr>
            </a:pPr>
            <a:r>
              <a:t>•  2  API validates the request and returns a precomputed prediction.</a:t>
            </a:r>
          </a:p>
          <a:p>
            <a:pPr>
              <a:lnSpc>
                <a:spcPts val="3600"/>
              </a:lnSpc>
              <a:defRPr sz="1200">
                <a:solidFill>
                  <a:srgbClr val="333333"/>
                </a:solidFill>
                <a:latin typeface="Arial"/>
              </a:defRPr>
            </a:pPr>
            <a:r>
              <a:t>•  3  Reviewer records an explicit correction or note.</a:t>
            </a:r>
          </a:p>
          <a:p>
            <a:pPr>
              <a:lnSpc>
                <a:spcPts val="3600"/>
              </a:lnSpc>
              <a:defRPr sz="1200">
                <a:solidFill>
                  <a:srgbClr val="333333"/>
                </a:solidFill>
                <a:latin typeface="Arial"/>
              </a:defRPr>
            </a:pPr>
            <a:r>
              <a:t>•  4  Application stores the review as an append-only event.</a:t>
            </a:r>
          </a:p>
          <a:p>
            <a:pPr>
              <a:lnSpc>
                <a:spcPts val="3600"/>
              </a:lnSpc>
              <a:defRPr sz="1200">
                <a:solidFill>
                  <a:srgbClr val="333333"/>
                </a:solidFill>
                <a:latin typeface="Arial"/>
              </a:defRPr>
            </a:pPr>
            <a:r>
              <a:t>•  5  A review does not rewrite a prediction or trigger model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5B63"/>
                </a:solidFill>
                <a:latin typeface="Arial"/>
              </a:defRPr>
            </a:pPr>
            <a:r>
              <a:rPr sz="1500">
                <a:solidFill>
                  <a:srgbClr val="225B63"/>
                </a:solidFill>
                <a:latin typeface="Arial"/>
                <a:ea typeface="Yu Gothic"/>
              </a:rPr>
              <a:t>Use this flow to review API ownership, persistence, validation, and authorization in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333333"/>
                </a:solidFill>
                <a:latin typeface="Arial"/>
              </a:defRPr>
            </a:pPr>
            <a:r>
              <a:rPr sz="2200" b="1">
                <a:solidFill>
                  <a:srgbClr val="333333"/>
                </a:solidFill>
                <a:latin typeface="Arial"/>
              </a:rPr>
              <a:t>AI lifecycle and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258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8"/>
                <a:gridCol w="3575304"/>
                <a:gridCol w="5047488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OsteoPatch evidence boundary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Curate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Track source, labels, and quality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Check provenance before analysis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Split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Hold groups out of training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Historical evaluation uses four case/slide groups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Train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Fit model parameters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Loss curves describe training fit only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Evaluate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Measure held-out predictions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Frozen out-of-fold metrics are available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Govern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Review limits and release criteria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 clinical or prospective qualification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rPr sz="1200">
                <a:solidFill>
                  <a:srgbClr val="666666"/>
                </a:solidFill>
                <a:latin typeface="Arial"/>
                <a:ea typeface="Yu Gothic"/>
              </a:rPr>
              <a:t>The app reads precomputed predictions; reviewer corrections do not retrain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333333"/>
                </a:solidFill>
                <a:latin typeface="Arial"/>
              </a:defRPr>
            </a:pPr>
            <a:r>
              <a:rPr sz="2200" b="1">
                <a:solidFill>
                  <a:srgbClr val="333333"/>
                </a:solidFill>
                <a:latin typeface="Arial"/>
              </a:rPr>
              <a:t>Frozen G4 results | exploratory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3444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04"/>
                <a:gridCol w="2313432"/>
                <a:gridCol w="4626864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anchor="ctr" marL="91440" marR="91440" marT="27432" marB="27432">
                    <a:solidFill>
                      <a:srgbClr val="051C2C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051C2C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Eligible patches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1,028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Four case or slide groups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Macro-F1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0.562311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Mean F1 across three configured classes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Balanced accuracy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0.626460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Mean class recall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NON_TUMOR recall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0.902893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Frozen pooled out-of-fold value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VIABLE_TUMOR recall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0.110345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Most eligible examples were missed</a:t>
                      </a:r>
                    </a:p>
                  </a:txBody>
                  <a:tcPr anchor="ctr" marL="91440" marR="91440" marT="27432" marB="27432">
                    <a:noFill/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NECROSIS recall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0.866142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51C2C"/>
                          </a:solidFill>
                          <a:latin typeface="Arial"/>
                        </a:defRPr>
                      </a:pPr>
                      <a:r>
                        <a:t>Frozen pooled out-of-fold value</a:t>
                      </a:r>
                    </a:p>
                  </a:txBody>
                  <a:tcPr anchor="ctr" marL="91440" marR="91440" marT="27432" marB="27432">
                    <a:solidFill>
                      <a:srgbClr val="F5F5F5"/>
                    </a:solidFill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A4E3A"/>
                </a:solidFill>
                <a:latin typeface="Arial"/>
              </a:defRPr>
            </a:pPr>
            <a:r>
              <a:rPr sz="1200" b="1">
                <a:solidFill>
                  <a:srgbClr val="9A4E3A"/>
                </a:solidFill>
                <a:latin typeface="Arial"/>
                <a:ea typeface="Yu Gothic"/>
              </a:rPr>
              <a:t>Patient-level independence is unverified. Scores are not calibrated probabilities. The original baseline weight file is absent. These results do not establish clinical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